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4389120" cy="38404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A6A6"/>
                </a:solidFill>
              </a:defRPr>
            </a:pPr>
            <a:r>
              <a:t>GDI FEST 2026  |  LOMBA INOVASI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7772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PITCH DECK INOVASI PENDIDIKAN &amp; TEKNOLOGI (3-MIN PITCH)</a:t>
            </a:r>
          </a:p>
          <a:p>
            <a:pPr>
              <a:defRPr sz="4400" b="1">
                <a:solidFill>
                  <a:srgbClr val="FFFFFF"/>
                </a:solidFill>
              </a:defRPr>
            </a:pPr>
            <a:r>
              <a:t>CAREERSTUDENT AI</a:t>
            </a:r>
          </a:p>
          <a:p>
            <a:pPr>
              <a:defRPr sz="1350">
                <a:solidFill>
                  <a:srgbClr val="CBD5E1"/>
                </a:solidFill>
              </a:defRPr>
            </a:pPr>
            <a:r>
              <a:t>Adaptive Career Co-Pilot Berbasis Human-in-the-Loop &amp; Socratic Dialogue untuk Menjembatani Kesiapan Kerja Mahasiswa Universal di Era AI Generatif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234440"/>
            <a:ext cx="2499055" cy="2499055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463040"/>
            <a:ext cx="2041855" cy="205187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3840480"/>
            <a:ext cx="10728655" cy="2103120"/>
          </a:xfrm>
          <a:prstGeom prst="roundRect">
            <a:avLst/>
          </a:prstGeom>
          <a:solidFill>
            <a:srgbClr val="172541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A6A6"/>
                </a:solidFill>
              </a:defRPr>
            </a:pPr>
            <a:r>
              <a:t>TIM PENGEMBANG : TIM AQUAMAN TEKNOKRAT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Riki Ardiansyah (Ketua / Lead Architect - 24313003)    • Jovan Akbar Setiodono (UI/UX Specialist - 24313024)    • Fiqi Rahman Al Afkhoni (AI/QA Engineer - 24313023)</a:t>
            </a:r>
          </a:p>
          <a:p>
            <a:pPr>
              <a:defRPr sz="1200" b="1">
                <a:solidFill>
                  <a:srgbClr val="F59E0B"/>
                </a:solidFill>
              </a:defRPr>
            </a:pPr>
            <a:r>
              <a:t>UNIVERSITAS TEKNOKRAT INDONESIA — KAMPUSNYA SANG JUARA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Inovasi: Platform Universal untuk Seluruh Program Studi (Saintek, Soshum, Bisnis, Seni/Desain, &amp; Vokasi) • Live: career-student-ai.vercel.app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00A6A6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F59E0B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Akar Masalah: Epidemi 'Vibe-Applying' di Era AI Generatif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Mengapa Mahasiswa dengan CV Bagus Justru Gugur Massal Saat Wawancara Kerja?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991B1B"/>
                </a:solidFill>
              </a:defRPr>
            </a:pPr>
            <a:r>
              <a:t>Paradoks Generative AI (ChatGPT/LLM Publik):</a:t>
            </a:r>
          </a:p>
          <a:p>
            <a:pPr>
              <a:defRPr sz="1000">
                <a:solidFill>
                  <a:srgbClr val="B91C1C"/>
                </a:solidFill>
              </a:defRPr>
            </a:pPr>
            <a:r>
              <a:t>Mahasiswa mengandalkan otomasi copy-paste instan tanpa proses berpikir mendalam. Akibatnya, CV terlihat impresif tetapi kandidat kehilangan penguasaan narasi (cognitive atrophy) dan gagal saat diuji pewawancara.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3413455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65176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3047695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Otomasi Pasif (Vibe-Applying)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Mahasiswa menyalin teks buatan AI mentah-mentah ke dalam resume tanpa memahami logika dan metodologi di balik klaim pencapaian tersebut.</a:t>
            </a:r>
          </a:p>
          <a:p>
            <a:pPr>
              <a:defRPr sz="950" b="1">
                <a:solidFill>
                  <a:srgbClr val="B91C1C"/>
                </a:solidFill>
              </a:defRPr>
            </a:pPr>
            <a:r>
              <a:t>Akibat: Hilangnya ownership &amp; orisinalitas portofolio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468880"/>
            <a:ext cx="3413455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65176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54680"/>
            <a:ext cx="3047695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Interview Freeze di Depan Recruiter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Kandidat panik dan gagal menjawab pertanyaan studi kasus mendalam karena resume mereka dibuat oleh AI tanpa proses perenungan mandiri.</a:t>
            </a:r>
          </a:p>
          <a:p>
            <a:pPr>
              <a:defRPr sz="950" b="1">
                <a:solidFill>
                  <a:srgbClr val="B91C1C"/>
                </a:solidFill>
              </a:defRPr>
            </a:pPr>
            <a:r>
              <a:t>Akibat: Tingkat kegagalan wawancara teknis tinggi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468880"/>
            <a:ext cx="3413455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265176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154680"/>
            <a:ext cx="3047695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Kesenjangan Kompetensi Lintas Jurusan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Mahasiswa dari berbagai fakultas tidak tahu secara objektif apa saja gap hard skill &amp; soft skill mereka terhadap kebutuhan industri global (WEF 2023).</a:t>
            </a:r>
          </a:p>
          <a:p>
            <a:pPr>
              <a:defRPr sz="950" b="1">
                <a:solidFill>
                  <a:srgbClr val="B91C1C"/>
                </a:solidFill>
              </a:defRPr>
            </a:pPr>
            <a:r>
              <a:t>Akibat: 44% keahlian tidak selaras dengan pasar kerja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Solusi: CareerStudent AI — 4 Modul Kognitif Universal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Bukan Sekadar Resume Builder, Melainkan Adaptive Co-Pilot untuk Seluruh Program Studi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594360" cy="36576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645920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Efisiensi &lt; 5 Menit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876495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Universal ATS Fast CV Builder</a:t>
            </a:r>
          </a:p>
          <a:p>
            <a:pPr>
              <a:defRPr sz="950" b="1">
                <a:solidFill>
                  <a:srgbClr val="00A6A6"/>
                </a:solidFill>
              </a:defRPr>
            </a:pPr>
            <a:r>
              <a:t>Adaptif untuk Seluruh Program Studi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Generator resume standar ATS internasional yang mendukung seluruh rumpun ilmu (Saintek, Soshum, Bisnis, Desain, &amp; Vokasi). Pembuatan CV siap kerja dalam waktu &lt; 5 menit.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42255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645920"/>
            <a:ext cx="594360" cy="365760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1645920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Anti Copy-Paste Buta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4876495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Explicit Approval Gate (HITL)</a:t>
            </a:r>
          </a:p>
          <a:p>
            <a:pPr>
              <a:defRPr sz="950" b="1">
                <a:solidFill>
                  <a:srgbClr val="17324D"/>
                </a:solidFill>
              </a:defRPr>
            </a:pPr>
            <a:r>
              <a:t>Filosofi Kedaulatan Berpikir Mahasiswa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Mekanisme pengaman pedagogis yang melarang AI menulis atau menyunting CV secara otomatis tanpa peninjauan, persetujuan eksplisit, dan pemahaman sadar pengguna.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42255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4023360"/>
            <a:ext cx="594360" cy="36576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4023360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Refleksi Kognitif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60"/>
            <a:ext cx="4876495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Socratic Dialogue Coaching</a:t>
            </a:r>
          </a:p>
          <a:p>
            <a:pPr>
              <a:defRPr sz="950" b="1">
                <a:solidFill>
                  <a:srgbClr val="0EA5E9"/>
                </a:solidFill>
              </a:defRPr>
            </a:pPr>
            <a:r>
              <a:t>Stimulasi Daya Nalar Kritis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Mesin dialog berbasis pertanyaan sokratik yang menantang mahasiswa menggali kedalaman pengalaman, metrik hasil, dan metodologi kerja sebelum diformulasikan ke resume.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840480"/>
            <a:ext cx="5242255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4023360"/>
            <a:ext cx="5943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4023360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Kesiapan Mental Wawancara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480560"/>
            <a:ext cx="4876495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Skill-Gap Matrix &amp; STAR Mock Interview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Diagnostik WEF 2023 &amp; Wawancara Audio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Memetakan gap kompetensi terhadap taksonomi World Economic Forum (WEF) 2023 dan simulasi wawancara audio STAR dengan Mandatory Reflection Gate sebelum skor dibuka.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Tampilan Prototipe &amp; Validasi Deployment Produksi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Aplikasi Bekerja Nyata (Working Prototype), Teruji 100%, dan Siap Digunakan Secara Global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1051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59E0B"/>
                </a:solidFill>
              </a:rPr>
              <a:t>STATUS IMPLEMENTASI: </a:t>
            </a:r>
            <a:r>
              <a:rPr sz="1000" b="1">
                <a:solidFill>
                  <a:srgbClr val="00A6A6"/>
                </a:solidFill>
              </a:rPr>
              <a:t>100% PRODUCTION READY  •  15/15 APP ROUTES ACTIVE  •  42 BLACKBOX TEST CASES PASS</a:t>
            </a:r>
          </a:p>
          <a:p>
            <a:r>
              <a:rPr sz="1100" b="1">
                <a:solidFill>
                  <a:srgbClr val="FFFFFF"/>
                </a:solidFill>
              </a:rPr>
              <a:t>🌐 Live Web App (Vercel) : https://career-student-ai.vercel.app      |      📁 GitHub : https://github.com/rikiardiansyah-web/CareerStudentAI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42255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dia_1792359115071_ae73705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97480"/>
            <a:ext cx="4967935" cy="27459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5532120"/>
            <a:ext cx="496793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1">
                <a:solidFill>
                  <a:srgbClr val="17324D"/>
                </a:solidFill>
              </a:defRPr>
            </a:pPr>
            <a:r>
              <a:t>Modul 1: ATS Fast CV Builder dengan Explicit Approval Gate &amp; Socratic Prompting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606040"/>
            <a:ext cx="5242255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1792361157177_53c3abe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697480"/>
            <a:ext cx="4967935" cy="26974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5532120"/>
            <a:ext cx="496793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1">
                <a:solidFill>
                  <a:srgbClr val="17324D"/>
                </a:solidFill>
              </a:defRPr>
            </a:pPr>
            <a:r>
              <a:t>Modul 2 &amp; 3: Skill-Gap Matrix (Taksonomi WEF 2023) &amp; Mock Interview STAR Framework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Arsitektur Teknologi Kelas Industri: Next.js 16 &amp; Golang gRPC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Struktur Sistem Modern Terdistribusi: Cepat, Skalabilitas Tinggi, dan Hemat Biaya ($0)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27632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FRONTEND &amp; APP LAYER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627632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Modern Web &amp; Mobile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8764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Next.js 16 (React 19) + Tailwind CSS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Server-side rendering super responsif, arsitektur modular 15 rute, dan PWA Offline-First yang dapat diinstal langsung di smartphone.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42255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627632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HIGH-PERFORMANCE MICROSERVICE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1627632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Sub-millisecond Speed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48764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Golang (gRPC-Go) &amp; Protobuf v3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Microservices engine berkecepatan tinggi untuk komputasi taksonomi skill WEF 2023 dan parsing skor ATS dengan latensi sub-milidetik.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5242255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730752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KEAMANAN &amp; PRIVASI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3730752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Enterprise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60520"/>
            <a:ext cx="48764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Scrypt Hashing + OWASP Headers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Salt 16-byte dengan verifikasi constant-time melawan timing attacks, CSPRNG OTP, dan penyimpanan lokal privat di sisi klien.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566160"/>
            <a:ext cx="5242255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3730752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CLOUD &amp; SERVERLESS HOSTING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3730752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Zero-Cost Sustainable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160520"/>
            <a:ext cx="48764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Vercel Serverless Edge + GitHub CI/CD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Infrastruktur cloud global dengan otomatisasi deployment otomatis, zero cold start, dan uptime 99.9% dengan biaya operasional $0.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806440"/>
            <a:ext cx="10728655" cy="50292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Keunggulan Arsitektur: Efisiensi biaya 90% lebih hemat dibanding model cloud konvensional • Menjamin privasi data mahasiswa tanpa data scraping cloud.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Kebermanfaatan &amp; Dampak Terukur bagi Pemangku Kepentingan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Nilai Strategis bagi Mahasiswa Pencari Kerja dan Perguruan Tinggi / CDC Kampus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4876495" cy="41148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1. DAMPAK BAGI MAHASISWA &amp; FRESH GRADUATES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693615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✓ Kedaulatan Berpikir Terjaga (92% Retensi)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Mahasiswa memahami narasi portofolionya sendiri dan percaya diri mempertahankan pencapaian saat wawancara mendalam.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Efisiensi Tinggi Waktu (&lt; 5 Menit/CV)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Penyusunan resume standar ATS global berkecepatan tinggi tanpa mengorbankan kualitas dan autentisitas.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Peningkatan Lolos Screening ATS (≥ +35%)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Format dokumen 100% terbaca sistem ATS internasional dengan relevansi kata kunci industri yang akurat.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Inklusif untuk Seluruh Jurusan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Dapat dimanfaatkan gratis oleh mahasiswa dari program studi apa pun melalui web PWA tanpa biaya langganan.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4876495" cy="4114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2. DAMPAK BAGI PERGURUAN TINGGI &amp; CDC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693615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✓ Mendukung Capaian IKU 1 Perguruan Tinggi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Meningkatkan persentase lulusan yang langsung terserap di dunia kerja profesional dengan upah layak.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Data Analitik Kesenjangan Kurikulum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Menyediakan data agregat disparitas keterampilan mahasiswa sebagai evaluasi penyempurnaan kurikulum prodi.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Skalabilitas Bimbingan Karir Kampus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Menjadi co-pilot bagi Career Development Center (CDC) dalam melayani ribuan mahasiswa secara simultan.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Reputasi Kampus Beretika AI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Menjadi pionir kampus yang mengadopsi AI secara etis dengan filosofi Human-in-the-Loop.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03520" y="868680"/>
            <a:ext cx="1584655" cy="1584655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005840"/>
            <a:ext cx="1310335" cy="13167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606040"/>
            <a:ext cx="9448495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TERIMA KASIH</a:t>
            </a:r>
          </a:p>
          <a:p>
            <a:pPr algn="ctr">
              <a:defRPr sz="1400" i="1">
                <a:solidFill>
                  <a:srgbClr val="00A6A6"/>
                </a:solidFill>
              </a:defRPr>
            </a:pPr>
            <a:r>
              <a:t>"Menjembatani Nalar Kritis Mahasiswa di Era Disrupsi Kecerdasan Buatan"</a:t>
            </a:r>
          </a:p>
          <a:p>
            <a:pPr>
              <a:defRPr sz="600"/>
            </a:pPr>
          </a:p>
          <a:p>
            <a:pPr algn="ctr">
              <a:defRPr sz="2000" b="1">
                <a:solidFill>
                  <a:srgbClr val="F59E0B"/>
                </a:solidFill>
              </a:defRPr>
            </a:pPr>
            <a:r>
              <a:t>TIM AQUAMAN TEKNOKRAT</a:t>
            </a:r>
          </a:p>
          <a:p>
            <a:pPr algn="ctr">
              <a:defRPr sz="1200">
                <a:solidFill>
                  <a:srgbClr val="E2E8F0"/>
                </a:solidFill>
              </a:defRPr>
            </a:pPr>
            <a:r>
              <a:t>Riki Ardiansyah (Ketua)  •  Jovan Akbar Setiodono  •  Fiqi Rahman Al Afkhoni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UNIVERSITAS TEKNOKRAT INDONESIA — KAMPUSNYA SANG JUARA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20" y="5257800"/>
            <a:ext cx="4327855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Coba Langsung: career-student-ai.vercel.app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5897880"/>
            <a:ext cx="5790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[ SESI TANYA JAWAB / Q&amp;A — 2 MENIT ]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00A6A6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F59E0B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