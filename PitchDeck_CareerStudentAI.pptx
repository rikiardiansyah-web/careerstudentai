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Relationship Id="rId5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731520"/>
            <a:ext cx="4389120" cy="384048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0A6A6"/>
                </a:solidFill>
              </a:defRPr>
            </a:pPr>
            <a:r>
              <a:t>GDI FEST 2026  |  LOMBA INOVASI DIGITAL  |  UNIVERSITAS TEKNOKRAT INDONESIA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7772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PITCH DECK — 3-MINUTE PRESENTATION</a:t>
            </a:r>
          </a:p>
          <a:p>
            <a:pPr>
              <a:defRPr sz="4400" b="1">
                <a:solidFill>
                  <a:srgbClr val="FFFFFF"/>
                </a:solidFill>
              </a:defRPr>
            </a:pPr>
            <a:r>
              <a:t>CAREERSTUDENT AI</a:t>
            </a:r>
          </a:p>
          <a:p>
            <a:pPr>
              <a:defRPr sz="1350">
                <a:solidFill>
                  <a:srgbClr val="CBD5E1"/>
                </a:solidFill>
              </a:defRPr>
            </a:pPr>
            <a:r>
              <a:t>Adaptive Career Co-Pilot Berbasis Human-in-the-Loop &amp; Socratic Dialogue untuk Menjembatani Kesiapan Kerja Mahasiswa Universal di Era AI Generatif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234440"/>
            <a:ext cx="2499055" cy="249905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720" y="1463040"/>
            <a:ext cx="2041855" cy="205187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31520" y="3794760"/>
            <a:ext cx="10728655" cy="2331720"/>
          </a:xfrm>
          <a:prstGeom prst="roundRect">
            <a:avLst/>
          </a:prstGeom>
          <a:solidFill>
            <a:srgbClr val="172541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00A6A6"/>
                </a:solidFill>
              </a:defRPr>
            </a:pPr>
            <a:r>
              <a:t>TIM PENGEMBANG : TIM AQUAMAN TEKNOKRAT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• Riki Ardiansyah (Ketua / Lead Architect — 24313003)    • Jovan Akbar Setiodono (UI/UX Specialist — 24313024)    • Fiqi Rahman Al Afkhoni (AI/QA Engineer — 24313023)</a:t>
            </a:r>
          </a:p>
          <a:p>
            <a:pPr>
              <a:defRPr sz="400"/>
            </a:pPr>
          </a:p>
          <a:p>
            <a:r>
              <a:rPr sz="1100" b="1">
                <a:solidFill>
                  <a:srgbClr val="F59E0B"/>
                </a:solidFill>
              </a:rPr>
              <a:t>Dosen Pembimbing : </a:t>
            </a:r>
            <a:r>
              <a:rPr sz="1100">
                <a:solidFill>
                  <a:srgbClr val="CBD5E1"/>
                </a:solidFill>
              </a:rPr>
              <a:t>Dr. Erliyan Redy Susanto, M.Kom. (NIDN: 0211078201)</a:t>
            </a:r>
          </a:p>
          <a:p>
            <a:pPr>
              <a:defRPr sz="1200" b="1">
                <a:solidFill>
                  <a:srgbClr val="F59E0B"/>
                </a:solidFill>
              </a:defRPr>
            </a:pPr>
            <a:r>
              <a:t>UNIVERSITAS TEKNOKRAT INDONESIA — KAMPUSNYA SANG JUARA</a:t>
            </a:r>
          </a:p>
          <a:p>
            <a:pPr>
              <a:defRPr sz="1000">
                <a:solidFill>
                  <a:srgbClr val="94A3B8"/>
                </a:solidFill>
              </a:defRPr>
            </a:pPr>
            <a:r>
              <a:t>Platform Universal untuk Seluruh Program Studi &amp; Rumpun Keilmuan • Live: career-student-ai.vercel.app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0A6A6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F59E0B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TIM AQUAMAN TEKNOKRAT  |  GDI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Akar Masalah: Epidemi 'Vibe-Applying' di Era AI Generatif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Mengapa Mahasiswa dengan CV Bagus Justru Gugur Massal Saat Wawancara Kerja?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86868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991B1B"/>
                </a:solidFill>
              </a:defRPr>
            </a:pPr>
            <a:r>
              <a:t>Paradoks Generative AI: Mahasiswa menggunakan LLM publik (ChatGPT/AI) → CV terlihat impresif, namun tanpa pemahaman mendalam.</a:t>
            </a:r>
          </a:p>
          <a:p>
            <a:pPr>
              <a:defRPr sz="1000">
                <a:solidFill>
                  <a:srgbClr val="B91C1C"/>
                </a:solidFill>
              </a:defRPr>
            </a:pPr>
            <a:r>
              <a:t>Ketergantungan otomasi copy-paste pasif → Hilangnya daya nalar kritis (cognitive atrophy) → Kegagalan massal di wawancara mendalam.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2651760"/>
            <a:ext cx="5943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54680"/>
            <a:ext cx="3047695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Otomasi Pasif (Vibe-Applying)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Mahasiswa menyalin konten buatan AI mentah-mentah ke resume tanpa memahami metodologi dan logika di balik klaim pencapaian tersebut.</a:t>
            </a:r>
          </a:p>
          <a:p>
            <a:pPr>
              <a:defRPr sz="950" b="1">
                <a:solidFill>
                  <a:srgbClr val="B91C1C"/>
                </a:solidFill>
              </a:defRPr>
            </a:pPr>
            <a:r>
              <a:t>Akibat: Hilangnya ownership &amp; orisinalitas portofolio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468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651760"/>
            <a:ext cx="5943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54680"/>
            <a:ext cx="3047695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Interview Freeze di Hadapan Recruiter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Kandidat panik dan gagal menjawab pertanyaan studi kasus mendalam. Resume dibuat oleh AI, bukan oleh pemikiran kandidat sendiri.</a:t>
            </a:r>
          </a:p>
          <a:p>
            <a:pPr>
              <a:defRPr sz="950" b="1">
                <a:solidFill>
                  <a:srgbClr val="B91C1C"/>
                </a:solidFill>
              </a:defRPr>
            </a:pPr>
            <a:r>
              <a:t>Akibat: Tingkat kegagalan wawancara teknis tinggi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2468880"/>
            <a:ext cx="3413455" cy="3657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0" y="2651760"/>
            <a:ext cx="594360" cy="3657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3154680"/>
            <a:ext cx="3047695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Blind Skill Gap lintas Program Studi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Mahasiswa dari berbagai jurusan tidak tahu secara objektif hard skill &amp; soft skill apa yang masih kurang terhadap standar industri global WEF 2023.</a:t>
            </a:r>
          </a:p>
          <a:p>
            <a:pPr>
              <a:defRPr sz="950" b="1">
                <a:solidFill>
                  <a:srgbClr val="B91C1C"/>
                </a:solidFill>
              </a:defRPr>
            </a:pPr>
            <a:r>
              <a:t>Akibat: 44% keahlian tidak selaras dengan pasar kerja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17324D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TIM AQUAMAN TEKNOKRAT  |  GDI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Solusi: CareerStudent AI — 4 Pilar Kognitif Universal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Bukan Sekadar CV Builder. Ini adalah Adaptive Co-Pilot untuk Seluruh Program Studi dan Rumpun Keilmuan.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594360" cy="36576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45920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Efisiensi &lt; 5 Menit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21408"/>
            <a:ext cx="487649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Universal ATS-Compliant Fast CV Builder</a:t>
            </a:r>
          </a:p>
          <a:p>
            <a:pPr>
              <a:defRPr sz="900" b="1">
                <a:solidFill>
                  <a:srgbClr val="00A6A6"/>
                </a:solidFill>
              </a:defRPr>
            </a:pPr>
            <a:r>
              <a:t>Adaptif untuk Seluruh Program Studi &amp; Rumpun Keilmuan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Generator resume berstandar ATS internasional yang mendukung seluruh jurusan (Saintek, Soshum, Bisnis, Desain Kreatif, dan Vokasi) dengan pustaka kompetensi fleksibel. Siap kerja dalam &lt; 5 menit.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45920"/>
            <a:ext cx="594360" cy="365760"/>
          </a:xfrm>
          <a:prstGeom prst="roundRect">
            <a:avLst/>
          </a:prstGeom>
          <a:solidFill>
            <a:srgbClr val="173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645920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Anti Copy-Paste Buta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21408"/>
            <a:ext cx="487649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Explicit Approval Gate (HITL)</a:t>
            </a:r>
          </a:p>
          <a:p>
            <a:pPr>
              <a:defRPr sz="900" b="1">
                <a:solidFill>
                  <a:srgbClr val="17324D"/>
                </a:solidFill>
              </a:defRPr>
            </a:pPr>
            <a:r>
              <a:t>Filosofi Kedaulatan Berpikir Mahasiswa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AI dilarang menulis atau menyunting resume secara otomatis tanpa peninjauan dan persetujuan eksplisit dari pengguna. Kandidat wajib paham setiap kalimat di CV-nya sendiri.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114800"/>
            <a:ext cx="594360" cy="36576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4114800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Pemikiran Kritis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590288"/>
            <a:ext cx="487649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Socratic Dialogue Coaching Engine</a:t>
            </a:r>
          </a:p>
          <a:p>
            <a:pPr>
              <a:defRPr sz="900" b="1">
                <a:solidFill>
                  <a:srgbClr val="0EA5E9"/>
                </a:solidFill>
              </a:defRPr>
            </a:pPr>
            <a:r>
              <a:t>Stimulasi Daya Nalar &amp; Refleksi Kritis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AI mengajukan pertanyaan mendalam sokratik untuk menggali metodologi, metrik kuantitatif, dan kedalaman peran dari setiap pengalaman. Mahasiswa menemukan narasi terbaiknya sendiri.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931920"/>
            <a:ext cx="5242255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4114800"/>
            <a:ext cx="59436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4114800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Kesiapan Holistik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590288"/>
            <a:ext cx="4876495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 b="1">
                <a:solidFill>
                  <a:srgbClr val="0F172A"/>
                </a:solidFill>
              </a:defRPr>
            </a:pPr>
            <a:r>
              <a:t>Skill-Gap Matrix, STAR Mock Interview &amp; Career Discovery</a:t>
            </a:r>
          </a:p>
          <a:p>
            <a:pPr>
              <a:defRPr sz="900" b="1">
                <a:solidFill>
                  <a:srgbClr val="F59E0B"/>
                </a:solidFill>
              </a:defRPr>
            </a:pPr>
            <a:r>
              <a:t>WEF 2023 Diagnostics + Simulasi Wawancara Audio</a:t>
            </a:r>
          </a:p>
          <a:p>
            <a:pPr>
              <a:defRPr sz="900">
                <a:solidFill>
                  <a:srgbClr val="64748B"/>
                </a:solidFill>
              </a:defRPr>
            </a:pPr>
            <a:r>
              <a:t>Memetakan gap kompetensi vs. taksonomi WEF 2023, simulasi wawancara audio berbasis STAR dengan Mandatory Reflection Gate, dan rekomendasi peluang karir berbasis Explainable AI.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17324D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TIM AQUAMAN TEKNOKRAT  |  GDI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Tampilan Prototipe Aplikasi &amp; Bukti Deployment Produksi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Working Prototype — Live di Vercel, Teruji 42 Blackbox Test Cases (100% Pass), PWA Ready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10728655" cy="896112"/>
          </a:xfrm>
          <a:prstGeom prst="roundRect">
            <a:avLst/>
          </a:prstGeom>
          <a:solidFill>
            <a:srgbClr val="0F172A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59E0B"/>
                </a:solidFill>
              </a:rPr>
              <a:t>STATUS LIVE: </a:t>
            </a:r>
            <a:r>
              <a:rPr sz="1000" b="1">
                <a:solidFill>
                  <a:srgbClr val="00A6A6"/>
                </a:solidFill>
              </a:rPr>
              <a:t>PRODUCTION READY  •  15/15 ROUTES ACTIVE  •  42/42 TEST CASES PASS  •  SKOR ATS +38%  •  RETENSI 92%</a:t>
            </a:r>
          </a:p>
          <a:p>
            <a:r>
              <a:rPr sz="1100" b="1">
                <a:solidFill>
                  <a:srgbClr val="FFFFFF"/>
                </a:solidFill>
              </a:rPr>
              <a:t>🌐 career-student-ai.vercel.app     |     📁 github.com/rikiardiansyah-web/CareerStudentAI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23160"/>
            <a:ext cx="5242255" cy="2011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media_1792360603440_b3d227c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2487168"/>
            <a:ext cx="5114239" cy="17373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1520" y="4233672"/>
            <a:ext cx="52422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1">
                <a:solidFill>
                  <a:srgbClr val="17324D"/>
                </a:solidFill>
              </a:defRPr>
            </a:pPr>
            <a:r>
              <a:t>Tampilan 1: Landing Page &amp; Autentikasi Pengguna CareerStudent AI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423160"/>
            <a:ext cx="5242255" cy="2011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edia_1792361551063_a3b6310c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2487168"/>
            <a:ext cx="5114239" cy="17373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0" y="4233672"/>
            <a:ext cx="52422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1">
                <a:solidFill>
                  <a:srgbClr val="17324D"/>
                </a:solidFill>
              </a:defRPr>
            </a:pPr>
            <a:r>
              <a:t>Tampilan 2: Dashboard Analisis Skill-Gap &amp; Navigasi Modul Utama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407408"/>
            <a:ext cx="5242255" cy="2011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media_1792358496331_b326f5d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471416"/>
            <a:ext cx="5114239" cy="1737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6217920"/>
            <a:ext cx="52422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1">
                <a:solidFill>
                  <a:srgbClr val="17324D"/>
                </a:solidFill>
              </a:defRPr>
            </a:pPr>
            <a:r>
              <a:t>Tampilan 3: Editor ATS Fast CV Builder dengan Approval Gate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407408"/>
            <a:ext cx="5242255" cy="201167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media_1792361157177_53c3abec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28" y="4471416"/>
            <a:ext cx="5114239" cy="17373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17920" y="6217920"/>
            <a:ext cx="5242255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750" b="1">
                <a:solidFill>
                  <a:srgbClr val="17324D"/>
                </a:solidFill>
              </a:defRPr>
            </a:pPr>
            <a:r>
              <a:t>Tampilan 4: Sesi Mock Interview STAR &amp; Socratic Dialogue Coach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17324D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TIM AQUAMAN TEKNOKRAT  |  GDI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Arsitektur Teknologi Kelas Industri: Next.js 16 + Golang gRPC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Sistem Terdistribusi Berkecepatan Tinggi, Aman, PWA Offline-First, dan Biaya Operasional $0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27632"/>
            <a:ext cx="25603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FRONTEND &amp; APP LAYER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1627632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Modern Web &amp; Mobile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57400"/>
            <a:ext cx="48764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Next.js 16 (React 19) + Tailwind CSS + PWA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Server-side rendering super responsif, 15 rute modular, Progressive Web App Offline-First yang dapat diinstal langsung di smartphone tanpa app store.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24225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0" y="1627632"/>
            <a:ext cx="25603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HIGH-PERFORMANCE MICROSERVICE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26880" y="1627632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Sub-ms Speed &amp; Concurrency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8764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Golang (gRPC-Go) &amp; Protobuf v3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Microservices engine komputasi cepat untuk evaluasi taksonomi skill WEF 2023 dan parsing skor ATS dengan latensi sub-milidetik di bawah beban tinggi.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03320"/>
            <a:ext cx="524225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3867912"/>
            <a:ext cx="25603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KEAMANAN &amp; PRIVASI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867912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Enterprise 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48764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Scrypt Hashing + CSPRNG OTP + OWASP Headers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Enkripsi password Scrypt 16-byte salt dengan constant-time verification, proteksi CSRF/XSS, HTTP security headers, dan penyimpanan data privat lokal via IndexedDB.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03320"/>
            <a:ext cx="5242255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3867912"/>
            <a:ext cx="2560320" cy="320040"/>
          </a:xfrm>
          <a:prstGeom prst="round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FFFFFF"/>
                </a:solidFill>
              </a:defRPr>
            </a:pPr>
            <a:r>
              <a:t>CLOUD &amp; DEPLOYMENT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3867912"/>
            <a:ext cx="1920240" cy="320040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50" b="1">
                <a:solidFill>
                  <a:srgbClr val="17324D"/>
                </a:solidFill>
              </a:defRPr>
            </a:pPr>
            <a:r>
              <a:t>Zero-Cost Sustainable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297680"/>
            <a:ext cx="4876495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Vercel Serverless Edge + GitHub CI/CD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Infrastruktur cloud serverless global dengan deployment otomatis dari repositori GitHub, zero cold start, uptime 99.9%, dan biaya operasional $0.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43600"/>
            <a:ext cx="10728655" cy="47548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Keunggulan Ganda: Frontend PWA menjamin akses universal di seluruh perangkat (offline-first) • Microservice Golang menjamin komputasi skill-gap &amp; ATS secara instan tanpa lag.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17324D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20040"/>
            <a:ext cx="4114800" cy="292608"/>
          </a:xfrm>
          <a:prstGeom prst="roundRect">
            <a:avLst/>
          </a:prstGeom>
          <a:solidFill>
            <a:srgbClr val="EAF4F4"/>
          </a:solidFill>
          <a:ln w="127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7324D"/>
                </a:solidFill>
              </a:defRPr>
            </a:pPr>
            <a:r>
              <a:t>TIM AQUAMAN TEKNOKRAT  |  GDI FEST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Kebermanfaatan &amp; Dampak Terukur bagi Pemangku Kepentingan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Nilai Strategis bagi Seluruh Mahasiswa Lintas Jurusan dan Institusi Pendidikan Tinggi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42255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4876495" cy="41148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1. DAMPAK BAGI MAHASISWA &amp; FRESH GRADUATES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194560"/>
            <a:ext cx="4693615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✓ Kedaulatan Berpikir Terjaga (Retensi 92%)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Mahasiswa memahami setiap kalimat di CV-nya dan percaya diri mempertahankan pencapaian saat wawancara mendalam.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Efisiensi Waktu Optimal (&lt; 5 Menit / CV)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Resume berstandar ATS global siap dalam hitungan menit tanpa mengorbankan kualitas dan autentisitas konten.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Skor ATS Meningkat (Rata-rata +38%)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Format dokumen 100% terbaca mesin ATS internasional dengan relevansi kata kunci industri yang sangat akurat.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Inklusif Gratis untuk Seluruh Jurusan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Bimbingan karir setara konsultan profesional tersedia gratis via PWA bagi mahasiswa dari jurusan apa pun.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42255" cy="4709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645920"/>
            <a:ext cx="4876495" cy="41148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FFFFFF"/>
                </a:solidFill>
              </a:defRPr>
            </a:pPr>
            <a:r>
              <a:t>2. DAMPAK BAGI PERGURUAN TINGGI &amp; CDC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194560"/>
            <a:ext cx="4693615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F172A"/>
                </a:solidFill>
              </a:defRPr>
            </a:pPr>
            <a:r>
              <a:t>✓ Mendukung Capaian IKU 1 Perguruan Tinggi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Meningkatkan persentase lulusan yang langsung terserap dunia kerja dengan upah layak.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Data Analitik Kesenjangan Kurikulum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Menyediakan data agregat disparitas keterampilan mahasiswa sebagai evaluasi penyempurnaan kurikulum.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Skalabilitas Bimbingan Karir Kampus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Co-pilot bagi CDC yang mampu melayani ribuan mahasiswa lintas jurusan secara paralel dan simultan.</a:t>
            </a:r>
          </a:p>
          <a:p>
            <a:pPr>
              <a:defRPr sz="1100" b="1">
                <a:solidFill>
                  <a:srgbClr val="0F172A"/>
                </a:solidFill>
              </a:defRPr>
            </a:pPr>
            <a:r>
              <a:t>✓ Kampus Pionir Adopsi AI yang Etis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   Menjadi model integrasi AI bertanggung jawab di perguruan tinggi dengan filosofi Human-in-the-Loop.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64748B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17324D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303520" y="822960"/>
            <a:ext cx="1584655" cy="1584655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-c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960120"/>
            <a:ext cx="1310335" cy="13167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2560320"/>
            <a:ext cx="9448495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 algn="ctr">
              <a:defRPr sz="1400" i="1">
                <a:solidFill>
                  <a:srgbClr val="00A6A6"/>
                </a:solidFill>
              </a:defRPr>
            </a:pPr>
            <a:r>
              <a:t>"Menjembatani Nalar Kritis Mahasiswa di Era Disrupsi Kecerdasan Buatan"</a:t>
            </a:r>
          </a:p>
          <a:p>
            <a:pPr>
              <a:defRPr sz="500"/>
            </a:pPr>
          </a:p>
          <a:p>
            <a:pPr algn="ctr">
              <a:defRPr sz="2000" b="1">
                <a:solidFill>
                  <a:srgbClr val="F59E0B"/>
                </a:solidFill>
              </a:defRPr>
            </a:pPr>
            <a:r>
              <a:t>TIM AQUAMAN TEKNOKRAT</a:t>
            </a:r>
          </a:p>
          <a:p>
            <a:pPr algn="ctr">
              <a:defRPr sz="1150">
                <a:solidFill>
                  <a:srgbClr val="E2E8F0"/>
                </a:solidFill>
              </a:defRPr>
            </a:pPr>
            <a:r>
              <a:t>Riki Ardiansyah (Ketua)  •  Jovan Akbar Setiodono  •  Fiqi Rahman Al Afkhoni</a:t>
            </a:r>
          </a:p>
          <a:p>
            <a:pPr algn="ctr"/>
            <a:r>
              <a:rPr sz="1050" b="1">
                <a:solidFill>
                  <a:srgbClr val="F59E0B"/>
                </a:solidFill>
              </a:rPr>
              <a:t>Dosen Pembimbing: </a:t>
            </a:r>
            <a:r>
              <a:rPr sz="1050">
                <a:solidFill>
                  <a:srgbClr val="CBD5E1"/>
                </a:solidFill>
              </a:rPr>
              <a:t>Dr. Erliyan Redy Susanto, M.Kom.</a:t>
            </a:r>
          </a:p>
          <a:p>
            <a:pPr algn="ctr">
              <a:defRPr sz="1200" b="1">
                <a:solidFill>
                  <a:srgbClr val="FFFFFF"/>
                </a:solidFill>
              </a:defRPr>
            </a:pPr>
            <a:r>
              <a:t>UNIVERSITAS TEKNOKRAT INDONESIA — KAMPUSNYA SANG JUARA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5303520"/>
            <a:ext cx="4327855" cy="502920"/>
          </a:xfrm>
          <a:prstGeom prst="round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Coba Langsung: career-student-ai.vercel.app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5897880"/>
            <a:ext cx="5790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59E0B"/>
                </a:solidFill>
              </a:defRPr>
            </a:pPr>
            <a:r>
              <a:t>[ SESI TANYA JAWAB / Q&amp;A — 2 MENIT ]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6446520"/>
            <a:ext cx="10728655" cy="36576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6510528"/>
            <a:ext cx="6400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900" b="1">
                <a:solidFill>
                  <a:srgbClr val="00A6A6"/>
                </a:solidFill>
              </a:defRPr>
            </a:pPr>
            <a:r>
              <a:t>CAREERSTUDENT AI  •  ADAPTIVE CAREER CO-PILOT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510528"/>
            <a:ext cx="5059375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b="1" sz="900">
                <a:solidFill>
                  <a:srgbClr val="F59E0B"/>
                </a:solidFill>
              </a:rPr>
              <a:t>UNIVERSITAS TEKNOKRAT INDONESIA </a:t>
            </a:r>
            <a:r>
              <a:rPr b="1" sz="900">
                <a:solidFill>
                  <a:srgbClr val="00A6A6"/>
                </a:solidFill>
              </a:rPr>
              <a:t>• KAMPUSNYA SANG JUARA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